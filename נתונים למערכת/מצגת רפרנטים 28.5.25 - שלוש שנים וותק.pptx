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10-->
<p:presentation xmlns:r="http://schemas.openxmlformats.org/officeDocument/2006/relationships" xmlns:a="http://schemas.openxmlformats.org/drawingml/2006/main" xmlns:p="http://schemas.openxmlformats.org/presentationml/2006/main" rtl="1" saveSubsetFonts="1">
  <p:sldMasterIdLst>
    <p:sldMasterId id="2147483648" r:id="rId1"/>
  </p:sldMasterIdLst>
  <p:notesMasterIdLst>
    <p:notesMasterId r:id="rId2"/>
  </p:notesMasterIdLst>
  <p:sldIdLst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12192000" cy="6858000"/>
  <p:notesSz cx="6858000" cy="9144000"/>
  <p:custDataLst>
    <p:tags r:id="rId10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fill>
          <a:solidFill>
            <a:schemeClr val="accent4">
              <a:tint val="40000"/>
            </a:schemeClr>
          </a:solidFill>
        </a:fill>
      </a:tcStyle>
    </a:band1H>
    <a:band1V>
      <a:tcStyle>
        <a:fill>
          <a:solidFill>
            <a:schemeClr val="accent4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105" d="100"/>
          <a:sy n="105" d="100"/>
        </p:scale>
        <p:origin x="19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tags" Target="tags/tag1.xml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7B40745E-14A8-4BCD-92B5-6C7BA943AF9B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14D2235-0AA8-4190-BFA9-13282D2B885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486005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B5FD819C-A8F3-A0F0-4AB9-90E1485F7B9C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AF30267C-966B-2BA8-17E9-9451B99D3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6932F50-5733-3FF2-1563-1B4D8E956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17B01AE9-91AA-7AF2-E27A-DA64F7CCB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1</a:t>
            </a:fld>
            <a:endParaRPr lang="he-IL"/>
          </a:p>
        </p:txBody>
      </p:sp>
    </p:spTree>
    <p:extLst>
      <p:ext uri="{BB962C8B-B14F-4D97-AF65-F5344CB8AC3E}">
        <p14:creationId val="2173909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6CC310E1-0833-C5A9-8DB6-7ACBDE25E7E0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45F55E55-3E38-E14F-2048-C14675725D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12473195-86AE-9386-439F-2533A5F33F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1947A72-954F-0F8A-7EF8-13CADA74E9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2</a:t>
            </a:fld>
            <a:endParaRPr lang="he-IL"/>
          </a:p>
        </p:txBody>
      </p:sp>
    </p:spTree>
    <p:extLst>
      <p:ext uri="{BB962C8B-B14F-4D97-AF65-F5344CB8AC3E}">
        <p14:creationId val="7093685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6B3C3EBE-8D62-2C00-BCE3-DC2FD2E9B2DA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51F5A622-B44B-F13C-0BBA-5DA277142D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53BDBC51-ED5A-24B4-5672-4FAD3266C7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0E82377-B45F-B704-F079-DDAD38F3A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3</a:t>
            </a:fld>
            <a:endParaRPr lang="he-IL"/>
          </a:p>
        </p:txBody>
      </p:sp>
    </p:spTree>
    <p:extLst>
      <p:ext uri="{BB962C8B-B14F-4D97-AF65-F5344CB8AC3E}">
        <p14:creationId val="31709942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E5FAA808-79A1-E2CE-4B1B-21637BA6A4B0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D0571B56-C9B0-B889-6D91-7DFF3EF0F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65DB656A-183C-748B-5EF2-828082CA9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C3FC5DA-465B-70A2-2DC8-9984BEFEA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4</a:t>
            </a:fld>
            <a:endParaRPr lang="he-IL"/>
          </a:p>
        </p:txBody>
      </p:sp>
    </p:spTree>
    <p:extLst>
      <p:ext uri="{BB962C8B-B14F-4D97-AF65-F5344CB8AC3E}">
        <p14:creationId val="2032611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7F04E718-6B34-4905-CF17-3F8710C57DAA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4B4A09ED-C37B-3BC1-E71E-47D43BEC0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69235453-CE20-54E7-D201-8332FC45E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70B3EE3-A9E7-5A8D-905C-D21FBF1F0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5</a:t>
            </a:fld>
            <a:endParaRPr lang="he-IL"/>
          </a:p>
        </p:txBody>
      </p:sp>
    </p:spTree>
    <p:extLst>
      <p:ext uri="{BB962C8B-B14F-4D97-AF65-F5344CB8AC3E}">
        <p14:creationId val="36604409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263DD456-645C-4530-637F-72F5A923E7D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965B4D9D-C916-26E0-AC98-F49A789FB7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1C4469AD-315F-3C87-8938-71C44A9AA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F21B05B-2372-2183-8300-CB8386BD4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val="27701200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6355B95B-F3A2-692B-0400-ECA5C1F0C981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מונת שקופית 1">
            <a:extLst>
              <a:ext uri="{FF2B5EF4-FFF2-40B4-BE49-F238E27FC236}">
                <a16:creationId xmlns:a16="http://schemas.microsoft.com/office/drawing/2014/main" id="{BEBCD97F-50EA-2C1A-0DFC-8BC7EC4221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>
            <a:extLst>
              <a:ext uri="{FF2B5EF4-FFF2-40B4-BE49-F238E27FC236}">
                <a16:creationId xmlns:a16="http://schemas.microsoft.com/office/drawing/2014/main" id="{F12FB35C-6262-F8F1-4AB6-077EF4B52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8592D4D2-F682-8728-92BB-BF19DB0973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DEBA96-3D8D-4090-A345-A902CE4E8BC3}" type="slidenum">
              <a:rPr lang="he-IL" smtClean="0"/>
              <a:t>7</a:t>
            </a:fld>
            <a:endParaRPr lang="he-IL"/>
          </a:p>
        </p:txBody>
      </p:sp>
    </p:spTree>
    <p:extLst>
      <p:ext uri="{BB962C8B-B14F-4D97-AF65-F5344CB8AC3E}">
        <p14:creationId val="4068853562"/>
      </p:ext>
    </p:extLst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557877577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570526489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23594787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535851493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000272695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50402137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961045402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2342817082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4238621563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196412553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675A2-42E6-47D5-A6E3-4EBAECDC9D52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3948137243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ערוך סגנונות טקסט של תבנית בסיס</a:t>
            </a:r>
          </a:p>
          <a:p>
            <a:pPr lvl="1"/>
            <a:r>
              <a:rPr lang="he-IL" smtClean="0"/>
              <a:t>רמה שניה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75A2-42E6-47D5-A6E3-4EBAECDC9D52}" type="datetimeFigureOut">
              <a:rPr lang="he-IL" smtClean="0"/>
              <a:t>א'/סיון/תשפ"ה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4D049-B604-43DE-9338-2C8DDF8F612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val="1482945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2.xm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5.xml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6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7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708A725-0D0A-B6FC-C4FE-30BD2BA32742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33BB35D-5129-4FB2-ACB7-4FDF5FD05AF2}"/>
              </a:ext>
            </a:extLst>
          </p:cNvPr>
          <p:cNvSpPr txBox="1"/>
          <p:nvPr/>
        </p:nvSpPr>
        <p:spPr>
          <a:xfrm>
            <a:off x="1258186" y="17012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למקצועות הסיור והבילוש 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– </a:t>
            </a:r>
            <a:r>
              <a:rPr lang="he-IL" sz="2800" b="1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במסגרת קפ"ז תחנות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7E3D28B-0F8C-34D2-92B1-E2F4B829F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2587291770"/>
              </p:ext>
            </p:extLst>
          </p:nvPr>
        </p:nvGraphicFramePr>
        <p:xfrm>
          <a:off x="1541721" y="1371595"/>
          <a:ext cx="9503734" cy="4389014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218648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71439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308095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521905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11,578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528456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13,503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11,648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13,607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12,667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491541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14,844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 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13,374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15,702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EDE4F48-5315-D44A-659D-EAF99B3A9ABD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של 3 שנים שירות צבאי</a:t>
            </a:r>
          </a:p>
        </p:txBody>
      </p:sp>
    </p:spTree>
    <p:extLst>
      <p:ext uri="{BB962C8B-B14F-4D97-AF65-F5344CB8AC3E}">
        <p14:creationId val="2397062406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20D70E27-4121-397F-6EC3-EF88FB32DDDD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AF704D6F-693C-1985-6A14-9BEEF3918EC6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חוקר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5 – </a:t>
            </a:r>
            <a:r>
              <a:rPr lang="he-IL" sz="2800" b="1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במסגרת קפ"ז תחנות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45C7B646-2DCE-A3D7-0778-03E77CA34749}"/>
              </a:ext>
            </a:extLst>
          </p:cNvPr>
          <p:cNvSpPr txBox="1"/>
          <p:nvPr/>
        </p:nvSpPr>
        <p:spPr>
          <a:xfrm>
            <a:off x="1938669" y="6134799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של 3 שנים שירות צבאי</a:t>
            </a:r>
          </a:p>
        </p:txBody>
      </p:sp>
      <p:graphicFrame>
        <p:nvGraphicFramePr>
          <p:cNvPr id="5" name="טבלה 4">
            <a:extLst>
              <a:ext uri="{FF2B5EF4-FFF2-40B4-BE49-F238E27FC236}">
                <a16:creationId xmlns:a16="http://schemas.microsoft.com/office/drawing/2014/main" id="{E35F73EB-8C7D-F27B-93C8-8655FDD4F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505396121"/>
              </p:ext>
            </p:extLst>
          </p:nvPr>
        </p:nvGraphicFramePr>
        <p:xfrm>
          <a:off x="1541721" y="1371595"/>
          <a:ext cx="9503734" cy="3404476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218648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714399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3080950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521905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11,102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528456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12,926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11,178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13,036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 +</a:t>
                      </a:r>
                    </a:p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(תחנת חברון)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12,925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03760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15,157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441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val="2027390372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8D31FEDD-FFC1-203C-047B-516CEC3ED4EA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D9A7033-DE18-04C4-0466-1A8E2EE28676}"/>
              </a:ext>
            </a:extLst>
          </p:cNvPr>
          <p:cNvSpPr txBox="1"/>
          <p:nvPr/>
        </p:nvSpPr>
        <p:spPr>
          <a:xfrm>
            <a:off x="1258186" y="17012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למקצועות הסיור והבילוש 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– </a:t>
            </a:r>
            <a:r>
              <a:rPr lang="he-IL" sz="2800" b="1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לא במסגרת קפ"ז תחנות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CE9EB26F-6F2D-4090-5F10-17F18E435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148099475"/>
              </p:ext>
            </p:extLst>
          </p:nvPr>
        </p:nvGraphicFramePr>
        <p:xfrm>
          <a:off x="1146544" y="1744855"/>
          <a:ext cx="9898910" cy="3368289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765004">
                  <a:extLst>
                    <a:ext uri="{9D8B030D-6E8A-4147-A177-3AD203B41FA5}">
                      <a16:colId xmlns:a16="http://schemas.microsoft.com/office/drawing/2014/main" val="1005861338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14675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מחוז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כל הארץ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10,127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12,026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ירושלים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8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11,610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13,471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ש"י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11,211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491541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13,354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4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67B7FBD8-2CA8-1575-FBD7-B0BD32E65A1C}"/>
              </a:ext>
            </a:extLst>
          </p:cNvPr>
          <p:cNvSpPr txBox="1"/>
          <p:nvPr/>
        </p:nvSpPr>
        <p:spPr>
          <a:xfrm>
            <a:off x="1938669" y="6280128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של 3 שנים שירות צבאי</a:t>
            </a:r>
          </a:p>
        </p:txBody>
      </p:sp>
    </p:spTree>
    <p:extLst>
      <p:ext uri="{BB962C8B-B14F-4D97-AF65-F5344CB8AC3E}">
        <p14:creationId val="3510769290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A30C011D-3453-D8E6-422E-C0675FEA8AE4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9F2A441-F1A4-3EBA-1133-F47AAB9A44B9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סייר יס"מ 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94A0465B-73AA-FF48-1686-948817188B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629230623"/>
              </p:ext>
            </p:extLst>
          </p:nvPr>
        </p:nvGraphicFramePr>
        <p:xfrm>
          <a:off x="1146545" y="914388"/>
          <a:ext cx="9898910" cy="5369267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765004">
                  <a:extLst>
                    <a:ext uri="{9D8B030D-6E8A-4147-A177-3AD203B41FA5}">
                      <a16:colId xmlns:a16="http://schemas.microsoft.com/office/drawing/2014/main" val="1005861338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46577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מחוז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כל הארץ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10,256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12,184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ירושלים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8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11,735₪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13,620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דרום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דרגת שכר רס"ר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10,938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3491541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12,897 ₪ 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מתפ"א</a:t>
                      </a:r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11,212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13,354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ש"י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11,873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6625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14,165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06065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9343F29-5BDC-AC27-37E1-15D088F70CCE}"/>
              </a:ext>
            </a:extLst>
          </p:cNvPr>
          <p:cNvSpPr txBox="1"/>
          <p:nvPr/>
        </p:nvSpPr>
        <p:spPr>
          <a:xfrm>
            <a:off x="1938669" y="6347453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של 3 שנים שירות צבאי</a:t>
            </a:r>
          </a:p>
        </p:txBody>
      </p:sp>
    </p:spTree>
    <p:extLst>
      <p:ext uri="{BB962C8B-B14F-4D97-AF65-F5344CB8AC3E}">
        <p14:creationId val="2549104408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0E9D618D-7A70-FFE3-C42D-B578E726409F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116D9A8F-F574-A98C-0323-FB2CEF7595FC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חוקר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5 – </a:t>
            </a:r>
            <a:r>
              <a:rPr lang="he-IL" sz="2800" b="1" u="sng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לא במסגרת קפ"ז תחנות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3AFBDD1A-8754-05BF-3934-8F246EDB0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4066158368"/>
              </p:ext>
            </p:extLst>
          </p:nvPr>
        </p:nvGraphicFramePr>
        <p:xfrm>
          <a:off x="1146545" y="1169572"/>
          <a:ext cx="9898910" cy="4384729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765004">
                  <a:extLst>
                    <a:ext uri="{9D8B030D-6E8A-4147-A177-3AD203B41FA5}">
                      <a16:colId xmlns:a16="http://schemas.microsoft.com/office/drawing/2014/main" val="1005861338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46577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מחוז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כל הארץ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9,552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11,322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ירושלים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8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10,965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12,704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4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ש"י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9,683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282832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11,482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64483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יל"פ יהודה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11,309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6625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13,474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06065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379BA8A7-D79F-CCAE-F539-EDB0CACEEFA5}"/>
              </a:ext>
            </a:extLst>
          </p:cNvPr>
          <p:cNvSpPr txBox="1"/>
          <p:nvPr/>
        </p:nvSpPr>
        <p:spPr>
          <a:xfrm>
            <a:off x="1938669" y="6134799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של 3 שנים שירות צבאי</a:t>
            </a:r>
          </a:p>
        </p:txBody>
      </p:sp>
    </p:spTree>
    <p:extLst>
      <p:ext uri="{BB962C8B-B14F-4D97-AF65-F5344CB8AC3E}">
        <p14:creationId val="2021351980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01F16E25-A2AC-C6DC-765A-BF47C97743D7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D7F2369-D0FF-6887-3144-189D5224C8D5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מוקדן 100 משגר 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94A63BD8-B89D-28F9-21F5-28851950D2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1996135816"/>
              </p:ext>
            </p:extLst>
          </p:nvPr>
        </p:nvGraphicFramePr>
        <p:xfrm>
          <a:off x="1146545" y="1169572"/>
          <a:ext cx="9898910" cy="3400191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765004">
                  <a:extLst>
                    <a:ext uri="{9D8B030D-6E8A-4147-A177-3AD203B41FA5}">
                      <a16:colId xmlns:a16="http://schemas.microsoft.com/office/drawing/2014/main" val="1005861338"/>
                    </a:ext>
                  </a:extLst>
                </a:gridCol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46577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מחוז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כל הארץ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ג'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9,619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11,404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ירושלים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ג'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רס"ר 8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11,115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12,883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/>
                      <a:r>
                        <a:rPr lang="he-IL"/>
                        <a:t>ש"י</a:t>
                      </a:r>
                      <a:endParaRPr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שיטור חדש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10,127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6625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12,026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06065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9CB87AA-CE43-F163-CC86-0496FD25B3A5}"/>
              </a:ext>
            </a:extLst>
          </p:cNvPr>
          <p:cNvSpPr txBox="1"/>
          <p:nvPr/>
        </p:nvSpPr>
        <p:spPr>
          <a:xfrm>
            <a:off x="1938669" y="6134799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של 3 שנים שירות צבאי</a:t>
            </a:r>
          </a:p>
        </p:txBody>
      </p:sp>
    </p:spTree>
    <p:extLst>
      <p:ext uri="{BB962C8B-B14F-4D97-AF65-F5344CB8AC3E}">
        <p14:creationId val="2542313407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>
          <a:extLst>
            <a:ext uri="{FF2B5EF4-FFF2-40B4-BE49-F238E27FC236}">
              <a16:creationId xmlns:a16="http://schemas.microsoft.com/office/drawing/2014/main" id="{700C6AF5-5F39-797A-9409-0F6C414C4A31}"/>
            </a:ext>
          </a:extLst>
        </p:cNvPr>
        <p:cNvGrpSpPr/>
        <p:nvPr/>
      </p:nvGrpSpPr>
      <p:grpSpPr>
        <a:xfrm>
          <a:off x="0" y="0"/>
          <a: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C480C9A0-BEA7-0F03-DCC6-07FCEDB0F83F}"/>
              </a:ext>
            </a:extLst>
          </p:cNvPr>
          <p:cNvSpPr txBox="1"/>
          <p:nvPr/>
        </p:nvSpPr>
        <p:spPr>
          <a:xfrm>
            <a:off x="1258186" y="-21271"/>
            <a:ext cx="9675628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נתוני שכר למקצוע לוחם/סייר מג"ב</a:t>
            </a:r>
          </a:p>
          <a:p>
            <a:pPr algn="ctr"/>
            <a:r>
              <a:rPr lang="he-IL" sz="2800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קבוצת שכר 6 </a:t>
            </a:r>
          </a:p>
        </p:txBody>
      </p:sp>
      <p:graphicFrame>
        <p:nvGraphicFramePr>
          <p:cNvPr id="2" name="טבלה 1">
            <a:extLst>
              <a:ext uri="{FF2B5EF4-FFF2-40B4-BE49-F238E27FC236}">
                <a16:creationId xmlns:a16="http://schemas.microsoft.com/office/drawing/2014/main" id="{82C9095F-A44B-9E1A-CF46-C68CE9E34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val="3029287875"/>
              </p:ext>
            </p:extLst>
          </p:nvPr>
        </p:nvGraphicFramePr>
        <p:xfrm>
          <a:off x="2029046" y="1222735"/>
          <a:ext cx="8133906" cy="3400191"/>
        </p:xfrm>
        <a:graphic>
          <a:graphicData uri="http://schemas.openxmlformats.org/drawingml/2006/table">
            <a:tbl>
              <a:tblPr rtl="1" firstRow="1" bandRow="1">
                <a:tableStyleId>{00A15C55-8517-42AA-B614-E9B94910E393}</a:tableStyleId>
              </a:tblPr>
              <a:tblGrid>
                <a:gridCol w="1871330">
                  <a:extLst>
                    <a:ext uri="{9D8B030D-6E8A-4147-A177-3AD203B41FA5}">
                      <a16:colId xmlns:a16="http://schemas.microsoft.com/office/drawing/2014/main" val="1818690171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2462408704"/>
                    </a:ext>
                  </a:extLst>
                </a:gridCol>
                <a:gridCol w="2636875">
                  <a:extLst>
                    <a:ext uri="{9D8B030D-6E8A-4147-A177-3AD203B41FA5}">
                      <a16:colId xmlns:a16="http://schemas.microsoft.com/office/drawing/2014/main" val="1416092551"/>
                    </a:ext>
                  </a:extLst>
                </a:gridCol>
                <a:gridCol w="2158408">
                  <a:extLst>
                    <a:ext uri="{9D8B030D-6E8A-4147-A177-3AD203B41FA5}">
                      <a16:colId xmlns:a16="http://schemas.microsoft.com/office/drawing/2014/main" val="1142994755"/>
                    </a:ext>
                  </a:extLst>
                </a:gridCol>
              </a:tblGrid>
              <a:tr h="446577"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רמת פעילות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הערות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gridSpan="2">
                  <a:txBody>
                    <a:bodyPr vert="horz" wrap="square"/>
                    <a:lstStyle/>
                    <a:p>
                      <a:pPr algn="ctr" rtl="1"/>
                      <a:r>
                        <a:rPr lang="he-IL">
                          <a:solidFill>
                            <a:schemeClr val="tx1"/>
                          </a:solidFill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סה"כ משכורת כולל הוצאות אישיות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5000"/>
                        <a:lumOff val="75000"/>
                      </a:schemeClr>
                    </a:solidFill>
                  </a:tcPr>
                </a:tc>
                <a:tc hMerge="1">
                  <a:txBody>
                    <a:bodyPr vert="horz" wrap="square"/>
                    <a:lstStyle/>
                    <a:p>
                      <a:pPr rtl="1"/>
                      <a:endParaRPr lang="he-IL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5066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ב'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10,256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2518467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12,184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184854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11,211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4549688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13,354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42885"/>
                  </a:ext>
                </a:extLst>
              </a:tr>
              <a:tr h="492269">
                <a:tc rowSpan="2"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א' 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ללא גמול השתלמות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11,873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66253"/>
                  </a:ext>
                </a:extLst>
              </a:tr>
              <a:tr h="492269"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 vert="horz" wrap="square"/>
                    <a:lstStyle/>
                    <a:p>
                      <a:pPr algn="ctr" rtl="1"/>
                      <a:endParaRPr lang="he-IL" sz="160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כולל גמול השתלמות א'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algn="ctr" rtl="1"/>
                      <a:r>
                        <a:rPr lang="he-IL" sz="1600" smtClean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14,165 </a:t>
                      </a:r>
                      <a:r>
                        <a:rPr lang="he-IL" sz="160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₪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06065"/>
                  </a:ext>
                </a:extLst>
              </a:tr>
            </a:tbl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11578659-7316-FABC-AB05-BAB409ADE553}"/>
              </a:ext>
            </a:extLst>
          </p:cNvPr>
          <p:cNvSpPr txBox="1"/>
          <p:nvPr/>
        </p:nvSpPr>
        <p:spPr>
          <a:xfrm>
            <a:off x="1938669" y="6134799"/>
            <a:ext cx="831466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הסימולציות חושבו לפי השכלה תיכונית, וותק של 3 שנים שירות צבאי</a:t>
            </a:r>
          </a:p>
        </p:txBody>
      </p:sp>
    </p:spTree>
    <p:extLst>
      <p:ext uri="{BB962C8B-B14F-4D97-AF65-F5344CB8AC3E}">
        <p14:creationId val="2494391658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8.0.21"/>
  <p:tag name="AS_OS" val="Microsoft Windows NT 10.0.14393.0"/>
  <p:tag name="AS_RELEASE_DATE" val="2025.10.14"/>
  <p:tag name="AS_TITLE" val="Aspose.Slides for .NET6"/>
  <p:tag name="AS_VERSION" val="25.10"/>
</p:tagLst>
</file>

<file path=ppt/theme/theme1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Times New Roman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r="http://schemas.openxmlformats.org/officeDocument/2006/relationships"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21</Paragraphs>
  <Slides>7</Slides>
  <Notes>7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13">
      <vt:lpstr>Arial</vt:lpstr>
      <vt:lpstr>Calibri Light</vt:lpstr>
      <vt:lpstr>Calibri</vt:lpstr>
      <vt:lpstr>Tahoma</vt:lpstr>
      <vt:lpstr>Times New Roman</vt:lpstr>
      <vt:lpstr>ערכת נושא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25.1000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2026-08-10T10:14:06.062</cp:lastPrinted>
  <dcterms:created xsi:type="dcterms:W3CDTF">2026-08-10T10:14:06Z</dcterms:created>
  <dcterms:modified xsi:type="dcterms:W3CDTF">2026-08-10T07:14:06Z</dcterms:modified>
</cp:coreProperties>
</file>